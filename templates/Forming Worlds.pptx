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06400" y="444500"/>
            <a:ext cx="10160000" cy="1905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60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Talk title</a:t>
            </a:r>
          </a:p>
        </p:txBody>
      </p:sp>
      <p:sp>
        <p:nvSpPr>
          <p:cNvPr id="4" name="Speaker"/>
          <p:cNvSpPr>
            <a:spLocks noGrp="1"/>
          </p:cNvSpPr>
          <p:nvPr>
            <p:ph type="body" idx="1"/>
          </p:nvPr>
        </p:nvSpPr>
        <p:spPr>
          <a:xfrm>
            <a:off x="6350000" y="2095500"/>
            <a:ext cx="5435600" cy="317500"/>
          </a:xfrm>
        </p:spPr>
        <p:txBody>
          <a:bodyPr vert="horz" wrap="square"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1500" b="0" i="0" spc="300">
                <a:solidFill>
                  <a:srgbClr val="FFFFFF"/>
                </a:solidFill>
                <a:latin typeface="Geist Medium"/>
                <a:ea typeface="Geist Medium"/>
                <a:cs typeface="Geist Medium"/>
              </a:defRPr>
            </a:lvl1pPr>
          </a:lstStyle>
          <a:p>
            <a:r>
              <a:rPr lang="en-GB" i="0" dirty="0"/>
              <a:t>SPEAKER NAME</a:t>
            </a:r>
          </a:p>
        </p:txBody>
      </p:sp>
      <p:sp>
        <p:nvSpPr>
          <p:cNvPr id="5" name="Key papers"/>
          <p:cNvSpPr>
            <a:spLocks noGrp="1"/>
          </p:cNvSpPr>
          <p:nvPr>
            <p:ph type="body" idx="2"/>
          </p:nvPr>
        </p:nvSpPr>
        <p:spPr>
          <a:xfrm>
            <a:off x="406400" y="2984500"/>
            <a:ext cx="4826000" cy="1905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100" b="0" i="0">
                <a:solidFill>
                  <a:srgbClr val="E3E8EC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Optional: key papers, one per line</a:t>
            </a:r>
          </a:p>
        </p:txBody>
      </p:sp>
      <p:sp>
        <p:nvSpPr>
          <p:cNvPr id="6" name="Venue and date"/>
          <p:cNvSpPr>
            <a:spLocks noGrp="1"/>
          </p:cNvSpPr>
          <p:nvPr>
            <p:ph type="body" idx="3"/>
          </p:nvPr>
        </p:nvSpPr>
        <p:spPr>
          <a:xfrm>
            <a:off x="177800" y="5918200"/>
            <a:ext cx="3302000" cy="762000"/>
          </a:xfrm>
        </p:spPr>
        <p:txBody>
          <a:bodyPr vert="horz" wrap="square"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100" b="0" i="0">
                <a:solidFill>
                  <a:srgbClr val="E3E8EC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Venue, city</a:t>
            </a:r>
          </a:p>
          <a:p>
            <a:r>
              <a:rPr lang="en-GB" i="0" dirty="0"/>
              <a:t>Date</a:t>
            </a:r>
          </a:p>
        </p:txBody>
      </p:sp>
      <p:pic>
        <p:nvPicPr>
          <p:cNvPr id="7" name="Forming Worlds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2000" y="5905500"/>
            <a:ext cx="1152407" cy="635000"/>
          </a:xfrm>
          <a:prstGeom prst="rect">
            <a:avLst/>
          </a:prstGeom>
        </p:spPr>
      </p:pic>
      <p:sp>
        <p:nvSpPr>
          <p:cNvPr id="8" name="URL"/>
          <p:cNvSpPr txBox="1"/>
          <p:nvPr userDrawn="1"/>
        </p:nvSpPr>
        <p:spPr>
          <a:xfrm>
            <a:off x="10668000" y="6565900"/>
            <a:ext cx="1406407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850" b="0" i="0">
                <a:solidFill>
                  <a:srgbClr val="E3E8EC"/>
                </a:solidFill>
                <a:latin typeface="Geist"/>
                <a:ea typeface="Geist"/>
                <a:cs typeface="Geist"/>
              </a:rPr>
              <a:t>formingworlds.space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estion"/>
          <p:cNvSpPr>
            <a:spLocks noGrp="1"/>
          </p:cNvSpPr>
          <p:nvPr>
            <p:ph type="title"/>
          </p:nvPr>
        </p:nvSpPr>
        <p:spPr>
          <a:xfrm>
            <a:off x="508000" y="762000"/>
            <a:ext cx="11176000" cy="1651000"/>
          </a:xfrm>
        </p:spPr>
        <p:txBody>
          <a:bodyPr vert="horz" wrap="square"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44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How do rocky worlds form and evolve?</a:t>
            </a:r>
          </a:p>
        </p:txBody>
      </p:sp>
      <p:sp>
        <p:nvSpPr>
          <p:cNvPr id="4" name="Sub-question"/>
          <p:cNvSpPr>
            <a:spLocks noGrp="1"/>
          </p:cNvSpPr>
          <p:nvPr>
            <p:ph type="body" idx="1"/>
          </p:nvPr>
        </p:nvSpPr>
        <p:spPr>
          <a:xfrm>
            <a:off x="1651000" y="2540000"/>
            <a:ext cx="8890000" cy="1016000"/>
          </a:xfrm>
        </p:spPr>
        <p:txBody>
          <a:bodyPr vert="horz" wrap="square"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200" b="0" i="0">
                <a:solidFill>
                  <a:srgbClr val="E3E8EC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Sub-question for the next build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label"/>
          <p:cNvSpPr>
            <a:spLocks noGrp="1"/>
          </p:cNvSpPr>
          <p:nvPr>
            <p:ph type="body" idx="1"/>
          </p:nvPr>
        </p:nvSpPr>
        <p:spPr>
          <a:xfrm>
            <a:off x="406400" y="2413000"/>
            <a:ext cx="7620000" cy="254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 spc="150">
                <a:solidFill>
                  <a:srgbClr val="F1935B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r>
              <a:rPr lang="en-GB" i="0" dirty="0"/>
              <a:t>SECTION</a:t>
            </a:r>
          </a:p>
        </p:txBody>
      </p:sp>
      <p:sp>
        <p:nvSpPr>
          <p:cNvPr id="4" name="Section title"/>
          <p:cNvSpPr>
            <a:spLocks noGrp="1"/>
          </p:cNvSpPr>
          <p:nvPr>
            <p:ph type="title"/>
          </p:nvPr>
        </p:nvSpPr>
        <p:spPr>
          <a:xfrm>
            <a:off x="406400" y="2730500"/>
            <a:ext cx="9525000" cy="1651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48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Section statement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06400" y="254000"/>
            <a:ext cx="11379200" cy="5715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36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Title states the finding in one line</a:t>
            </a:r>
          </a:p>
        </p:txBody>
      </p:sp>
      <p:sp>
        <p:nvSpPr>
          <p:cNvPr id="4" name="Figure"/>
          <p:cNvSpPr>
            <a:spLocks noGrp="1"/>
          </p:cNvSpPr>
          <p:nvPr>
            <p:ph idx="10"/>
          </p:nvPr>
        </p:nvSpPr>
        <p:spPr>
          <a:xfrm>
            <a:off x="4064000" y="1206500"/>
            <a:ext cx="7721600" cy="5016500"/>
          </a:xfrm>
        </p:spPr>
        <p:txBody>
          <a:bodyPr vert="horz"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Figure</a:t>
            </a:r>
          </a:p>
        </p:txBody>
      </p:sp>
      <p:sp>
        <p:nvSpPr>
          <p:cNvPr id="5" name="Side text"/>
          <p:cNvSpPr>
            <a:spLocks noGrp="1"/>
          </p:cNvSpPr>
          <p:nvPr>
            <p:ph type="body" idx="1"/>
          </p:nvPr>
        </p:nvSpPr>
        <p:spPr>
          <a:xfrm>
            <a:off x="406400" y="2540000"/>
            <a:ext cx="3302000" cy="2667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700" b="0" i="0">
                <a:solidFill>
                  <a:srgbClr val="E3E8EC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Short line on what the figure shows</a:t>
            </a:r>
          </a:p>
        </p:txBody>
      </p:sp>
      <p:sp>
        <p:nvSpPr>
          <p:cNvPr id="6" name="Reference left"/>
          <p:cNvSpPr>
            <a:spLocks noGrp="1"/>
          </p:cNvSpPr>
          <p:nvPr>
            <p:ph type="body" idx="20"/>
          </p:nvPr>
        </p:nvSpPr>
        <p:spPr>
          <a:xfrm>
            <a:off x="1778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7" name="Reference right"/>
          <p:cNvSpPr>
            <a:spLocks noGrp="1"/>
          </p:cNvSpPr>
          <p:nvPr>
            <p:ph type="body" idx="21"/>
          </p:nvPr>
        </p:nvSpPr>
        <p:spPr>
          <a:xfrm>
            <a:off x="62992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, large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06400" y="254000"/>
            <a:ext cx="11379200" cy="5715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36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Title states the finding in one line</a:t>
            </a:r>
          </a:p>
        </p:txBody>
      </p:sp>
      <p:sp>
        <p:nvSpPr>
          <p:cNvPr id="4" name="Figure"/>
          <p:cNvSpPr>
            <a:spLocks noGrp="1"/>
          </p:cNvSpPr>
          <p:nvPr>
            <p:ph idx="10"/>
          </p:nvPr>
        </p:nvSpPr>
        <p:spPr>
          <a:xfrm>
            <a:off x="1016000" y="1174750"/>
            <a:ext cx="10160000" cy="5016500"/>
          </a:xfrm>
        </p:spPr>
        <p:txBody>
          <a:bodyPr vert="horz"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Figure</a:t>
            </a:r>
          </a:p>
        </p:txBody>
      </p:sp>
      <p:sp>
        <p:nvSpPr>
          <p:cNvPr id="5" name="Reference left"/>
          <p:cNvSpPr>
            <a:spLocks noGrp="1"/>
          </p:cNvSpPr>
          <p:nvPr>
            <p:ph type="body" idx="20"/>
          </p:nvPr>
        </p:nvSpPr>
        <p:spPr>
          <a:xfrm>
            <a:off x="1778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6" name="Reference right"/>
          <p:cNvSpPr>
            <a:spLocks noGrp="1"/>
          </p:cNvSpPr>
          <p:nvPr>
            <p:ph type="body" idx="21"/>
          </p:nvPr>
        </p:nvSpPr>
        <p:spPr>
          <a:xfrm>
            <a:off x="62992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gures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06400" y="254000"/>
            <a:ext cx="11379200" cy="5715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36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Title states the finding in one line</a:t>
            </a:r>
          </a:p>
        </p:txBody>
      </p:sp>
      <p:sp>
        <p:nvSpPr>
          <p:cNvPr id="4" name="Figure left"/>
          <p:cNvSpPr>
            <a:spLocks noGrp="1"/>
          </p:cNvSpPr>
          <p:nvPr>
            <p:ph idx="10"/>
          </p:nvPr>
        </p:nvSpPr>
        <p:spPr>
          <a:xfrm>
            <a:off x="406400" y="1270000"/>
            <a:ext cx="5588000" cy="4889500"/>
          </a:xfrm>
        </p:spPr>
        <p:txBody>
          <a:bodyPr vert="horz"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Figure</a:t>
            </a:r>
          </a:p>
        </p:txBody>
      </p:sp>
      <p:sp>
        <p:nvSpPr>
          <p:cNvPr id="5" name="Figure right"/>
          <p:cNvSpPr>
            <a:spLocks noGrp="1"/>
          </p:cNvSpPr>
          <p:nvPr>
            <p:ph idx="11"/>
          </p:nvPr>
        </p:nvSpPr>
        <p:spPr>
          <a:xfrm>
            <a:off x="6197600" y="1270000"/>
            <a:ext cx="5588000" cy="4889500"/>
          </a:xfrm>
        </p:spPr>
        <p:txBody>
          <a:bodyPr vert="horz"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Figure</a:t>
            </a:r>
          </a:p>
        </p:txBody>
      </p:sp>
      <p:sp>
        <p:nvSpPr>
          <p:cNvPr id="6" name="Reference left"/>
          <p:cNvSpPr>
            <a:spLocks noGrp="1"/>
          </p:cNvSpPr>
          <p:nvPr>
            <p:ph type="body" idx="20"/>
          </p:nvPr>
        </p:nvSpPr>
        <p:spPr>
          <a:xfrm>
            <a:off x="1778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7" name="Reference right"/>
          <p:cNvSpPr>
            <a:spLocks noGrp="1"/>
          </p:cNvSpPr>
          <p:nvPr>
            <p:ph type="body" idx="21"/>
          </p:nvPr>
        </p:nvSpPr>
        <p:spPr>
          <a:xfrm>
            <a:off x="62992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int 1"/>
          <p:cNvSpPr>
            <a:spLocks noGrp="1"/>
          </p:cNvSpPr>
          <p:nvPr>
            <p:ph type="body" idx="1"/>
          </p:nvPr>
        </p:nvSpPr>
        <p:spPr>
          <a:xfrm>
            <a:off x="406400" y="571500"/>
            <a:ext cx="7874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200" b="0" i="0">
                <a:solidFill>
                  <a:srgbClr val="FFFFFF"/>
                </a:solidFill>
                <a:latin typeface="Geist Medium"/>
                <a:ea typeface="Geist Medium"/>
                <a:cs typeface="Geist Medium"/>
              </a:defRPr>
            </a:lvl1pPr>
          </a:lstStyle>
          <a:p>
            <a:r>
              <a:rPr lang="en-GB" i="0" dirty="0"/>
              <a:t>1. Take-home point</a:t>
            </a:r>
          </a:p>
        </p:txBody>
      </p:sp>
      <p:sp>
        <p:nvSpPr>
          <p:cNvPr id="4" name="Point 1 references"/>
          <p:cNvSpPr>
            <a:spLocks noGrp="1"/>
          </p:cNvSpPr>
          <p:nvPr>
            <p:ph type="body" idx="11"/>
          </p:nvPr>
        </p:nvSpPr>
        <p:spPr>
          <a:xfrm>
            <a:off x="8572500" y="622300"/>
            <a:ext cx="3175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</a:t>
            </a:r>
          </a:p>
          <a:p>
            <a:r>
              <a:rPr lang="en-GB" i="0" dirty="0"/>
              <a:t>Author &amp; Author YY</a:t>
            </a:r>
          </a:p>
        </p:txBody>
      </p:sp>
      <p:sp>
        <p:nvSpPr>
          <p:cNvPr id="5" name="Point 2"/>
          <p:cNvSpPr>
            <a:spLocks noGrp="1"/>
          </p:cNvSpPr>
          <p:nvPr>
            <p:ph type="body" idx="2"/>
          </p:nvPr>
        </p:nvSpPr>
        <p:spPr>
          <a:xfrm>
            <a:off x="406400" y="2000250"/>
            <a:ext cx="7874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200" b="0" i="0">
                <a:solidFill>
                  <a:srgbClr val="FFFFFF"/>
                </a:solidFill>
                <a:latin typeface="Geist Medium"/>
                <a:ea typeface="Geist Medium"/>
                <a:cs typeface="Geist Medium"/>
              </a:defRPr>
            </a:lvl1pPr>
          </a:lstStyle>
          <a:p>
            <a:r>
              <a:rPr lang="en-GB" i="0" dirty="0"/>
              <a:t>2. Take-home point</a:t>
            </a:r>
          </a:p>
        </p:txBody>
      </p:sp>
      <p:sp>
        <p:nvSpPr>
          <p:cNvPr id="6" name="Point 2 references"/>
          <p:cNvSpPr>
            <a:spLocks noGrp="1"/>
          </p:cNvSpPr>
          <p:nvPr>
            <p:ph type="body" idx="12"/>
          </p:nvPr>
        </p:nvSpPr>
        <p:spPr>
          <a:xfrm>
            <a:off x="8572500" y="2051050"/>
            <a:ext cx="3175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</a:t>
            </a:r>
          </a:p>
          <a:p>
            <a:r>
              <a:rPr lang="en-GB" i="0" dirty="0"/>
              <a:t>Author &amp; Author YY</a:t>
            </a:r>
          </a:p>
        </p:txBody>
      </p:sp>
      <p:sp>
        <p:nvSpPr>
          <p:cNvPr id="7" name="Point 3"/>
          <p:cNvSpPr>
            <a:spLocks noGrp="1"/>
          </p:cNvSpPr>
          <p:nvPr>
            <p:ph type="body" idx="3"/>
          </p:nvPr>
        </p:nvSpPr>
        <p:spPr>
          <a:xfrm>
            <a:off x="406400" y="3429000"/>
            <a:ext cx="7874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200" b="0" i="0">
                <a:solidFill>
                  <a:srgbClr val="FFFFFF"/>
                </a:solidFill>
                <a:latin typeface="Geist Medium"/>
                <a:ea typeface="Geist Medium"/>
                <a:cs typeface="Geist Medium"/>
              </a:defRPr>
            </a:lvl1pPr>
          </a:lstStyle>
          <a:p>
            <a:r>
              <a:rPr lang="en-GB" i="0" dirty="0"/>
              <a:t>3. Take-home point</a:t>
            </a:r>
          </a:p>
        </p:txBody>
      </p:sp>
      <p:sp>
        <p:nvSpPr>
          <p:cNvPr id="8" name="Point 3 references"/>
          <p:cNvSpPr>
            <a:spLocks noGrp="1"/>
          </p:cNvSpPr>
          <p:nvPr>
            <p:ph type="body" idx="13"/>
          </p:nvPr>
        </p:nvSpPr>
        <p:spPr>
          <a:xfrm>
            <a:off x="8572500" y="3479800"/>
            <a:ext cx="3175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</a:t>
            </a:r>
          </a:p>
          <a:p>
            <a:r>
              <a:rPr lang="en-GB" i="0" dirty="0"/>
              <a:t>Author &amp; Author YY</a:t>
            </a:r>
          </a:p>
        </p:txBody>
      </p:sp>
      <p:sp>
        <p:nvSpPr>
          <p:cNvPr id="9" name="Point 4"/>
          <p:cNvSpPr>
            <a:spLocks noGrp="1"/>
          </p:cNvSpPr>
          <p:nvPr>
            <p:ph type="body" idx="4"/>
          </p:nvPr>
        </p:nvSpPr>
        <p:spPr>
          <a:xfrm>
            <a:off x="406400" y="4857750"/>
            <a:ext cx="7874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200" b="0" i="0">
                <a:solidFill>
                  <a:srgbClr val="FFFFFF"/>
                </a:solidFill>
                <a:latin typeface="Geist Medium"/>
                <a:ea typeface="Geist Medium"/>
                <a:cs typeface="Geist Medium"/>
              </a:defRPr>
            </a:lvl1pPr>
          </a:lstStyle>
          <a:p>
            <a:r>
              <a:rPr lang="en-GB" i="0" dirty="0"/>
              <a:t>4. Take-home point</a:t>
            </a:r>
          </a:p>
        </p:txBody>
      </p:sp>
      <p:sp>
        <p:nvSpPr>
          <p:cNvPr id="10" name="Point 4 references"/>
          <p:cNvSpPr>
            <a:spLocks noGrp="1"/>
          </p:cNvSpPr>
          <p:nvPr>
            <p:ph type="body" idx="14"/>
          </p:nvPr>
        </p:nvSpPr>
        <p:spPr>
          <a:xfrm>
            <a:off x="8572500" y="4908550"/>
            <a:ext cx="3175000" cy="12700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</a:t>
            </a:r>
          </a:p>
          <a:p>
            <a:r>
              <a:rPr lang="en-GB" i="0" dirty="0"/>
              <a:t>Author &amp; Author YY</a:t>
            </a:r>
          </a:p>
        </p:txBody>
      </p:sp>
      <p:pic>
        <p:nvPicPr>
          <p:cNvPr id="11" name="Forming Worlds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2000" y="5905500"/>
            <a:ext cx="1152407" cy="635000"/>
          </a:xfrm>
          <a:prstGeom prst="rect">
            <a:avLst/>
          </a:prstGeom>
        </p:spPr>
      </p:pic>
      <p:sp>
        <p:nvSpPr>
          <p:cNvPr id="12" name="URL"/>
          <p:cNvSpPr txBox="1"/>
          <p:nvPr userDrawn="1"/>
        </p:nvSpPr>
        <p:spPr>
          <a:xfrm>
            <a:off x="10668000" y="6565900"/>
            <a:ext cx="1406407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850" b="0" i="0">
                <a:solidFill>
                  <a:srgbClr val="E3E8EC"/>
                </a:solidFill>
                <a:latin typeface="Geist"/>
                <a:ea typeface="Geist"/>
                <a:cs typeface="Geist"/>
              </a:rPr>
              <a:t>formingworlds.space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rgbClr val="00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atement"/>
          <p:cNvSpPr>
            <a:spLocks noGrp="1"/>
          </p:cNvSpPr>
          <p:nvPr>
            <p:ph type="title"/>
          </p:nvPr>
        </p:nvSpPr>
        <p:spPr>
          <a:xfrm>
            <a:off x="1270000" y="2095500"/>
            <a:ext cx="9652000" cy="2667000"/>
          </a:xfrm>
        </p:spPr>
        <p:txBody>
          <a:bodyPr vert="horz"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3200" b="0" i="1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1" dirty="0"/>
              <a:t>A common assumption, stated plainly.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06400" y="254000"/>
            <a:ext cx="11379200" cy="5715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36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Title states the finding in one line</a:t>
            </a:r>
          </a:p>
        </p:txBody>
      </p:sp>
      <p:sp>
        <p:nvSpPr>
          <p:cNvPr id="4" name="Reference left"/>
          <p:cNvSpPr>
            <a:spLocks noGrp="1"/>
          </p:cNvSpPr>
          <p:nvPr>
            <p:ph type="body" idx="20"/>
          </p:nvPr>
        </p:nvSpPr>
        <p:spPr>
          <a:xfrm>
            <a:off x="1778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5" name="Reference right"/>
          <p:cNvSpPr>
            <a:spLocks noGrp="1"/>
          </p:cNvSpPr>
          <p:nvPr>
            <p:ph type="body" idx="21"/>
          </p:nvPr>
        </p:nvSpPr>
        <p:spPr>
          <a:xfrm>
            <a:off x="6299200" y="5283200"/>
            <a:ext cx="5715000" cy="1397000"/>
          </a:xfrm>
        </p:spPr>
        <p:txBody>
          <a:bodyPr vert="horz" wrap="square"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1200" b="0" i="0">
                <a:solidFill>
                  <a:srgbClr val="ABB2B8"/>
                </a:solidFill>
                <a:latin typeface="Geist"/>
                <a:ea typeface="Geist"/>
                <a:cs typeface="Geist"/>
              </a:defRPr>
            </a:lvl1pPr>
          </a:lstStyle>
          <a:p>
            <a:r>
              <a:rPr lang="en-GB" i="0" dirty="0"/>
              <a:t>Author+ YY </a:t>
            </a:r>
            <a:r>
              <a:rPr lang="en-GB" i="1" dirty="0"/>
              <a:t>Journal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30"/>
          </p:nvPr>
        </p:nvSpPr>
        <p:spPr>
          <a:xfrm>
            <a:off x="101600" y="63500"/>
            <a:ext cx="762000" cy="15240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800" b="0" i="0">
                <a:solidFill>
                  <a:srgbClr val="8B949A"/>
                </a:solidFill>
                <a:latin typeface="Geist"/>
                <a:ea typeface="Geist"/>
                <a:cs typeface="Geis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sing statement"/>
          <p:cNvSpPr>
            <a:spLocks noGrp="1"/>
          </p:cNvSpPr>
          <p:nvPr>
            <p:ph type="title"/>
          </p:nvPr>
        </p:nvSpPr>
        <p:spPr>
          <a:xfrm>
            <a:off x="1016000" y="762000"/>
            <a:ext cx="10160000" cy="1651000"/>
          </a:xfrm>
        </p:spPr>
        <p:txBody>
          <a:bodyPr vert="horz" wrap="square"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4400" b="0" i="0">
                <a:solidFill>
                  <a:srgbClr val="FFFFFF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Closing question or statement</a:t>
            </a:r>
          </a:p>
        </p:txBody>
      </p:sp>
      <p:sp>
        <p:nvSpPr>
          <p:cNvPr id="4" name="Announcement"/>
          <p:cNvSpPr>
            <a:spLocks noGrp="1"/>
          </p:cNvSpPr>
          <p:nvPr>
            <p:ph type="body" idx="1"/>
          </p:nvPr>
        </p:nvSpPr>
        <p:spPr>
          <a:xfrm>
            <a:off x="2286000" y="2540000"/>
            <a:ext cx="7620000" cy="762000"/>
          </a:xfrm>
        </p:spPr>
        <p:txBody>
          <a:bodyPr vert="horz" wrap="square"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b="0" i="0">
                <a:solidFill>
                  <a:srgbClr val="E3E8EC"/>
                </a:solidFill>
                <a:latin typeface="Geist Light"/>
                <a:ea typeface="Geist Light"/>
                <a:cs typeface="Geist Light"/>
              </a:defRPr>
            </a:lvl1pPr>
          </a:lstStyle>
          <a:p>
            <a:r>
              <a:rPr lang="en-GB" i="0" dirty="0"/>
              <a:t>Open positions, meetings</a:t>
            </a:r>
          </a:p>
        </p:txBody>
      </p:sp>
      <p:pic>
        <p:nvPicPr>
          <p:cNvPr id="5" name="Forming Worlds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2000" y="5905500"/>
            <a:ext cx="1152407" cy="635000"/>
          </a:xfrm>
          <a:prstGeom prst="rect">
            <a:avLst/>
          </a:prstGeom>
        </p:spPr>
      </p:pic>
      <p:sp>
        <p:nvSpPr>
          <p:cNvPr id="6" name="URL"/>
          <p:cNvSpPr txBox="1"/>
          <p:nvPr userDrawn="1"/>
        </p:nvSpPr>
        <p:spPr>
          <a:xfrm>
            <a:off x="10668000" y="6565900"/>
            <a:ext cx="1406407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850" b="0" i="0">
                <a:solidFill>
                  <a:srgbClr val="E3E8EC"/>
                </a:solidFill>
                <a:latin typeface="Geist"/>
                <a:ea typeface="Geist"/>
                <a:cs typeface="Geist"/>
              </a:rPr>
              <a:t>formingworlds.space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254000"/>
            <a:ext cx="113792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400" y="1206500"/>
            <a:ext cx="11379200" cy="5016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41000" y="63500"/>
            <a:ext cx="1473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0" y="63500"/>
            <a:ext cx="27940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500"/>
            <a:ext cx="7620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>
        <a:spcBef>
          <a:spcPts val="400"/>
        </a:spcBef>
        <a:buNone/>
        <a:defRPr lang="en-GB" sz="3600" b="0" i="0">
          <a:solidFill>
            <a:srgbClr val="FFFFFF"/>
          </a:solidFill>
          <a:latin typeface="Geist Light"/>
          <a:ea typeface="Geist Light"/>
          <a:cs typeface="Geist Light"/>
        </a:defRPr>
      </a:lvl1pPr>
    </p:titleStyle>
    <p:bodyStyle>
      <a:lvl1pPr marL="254000" indent="-190500">
        <a:spcBef>
          <a:spcPts val="400"/>
        </a:spcBef>
        <a:buFont typeface="Geist"/>
        <a:buChar char="•"/>
        <a:defRPr lang="en-GB" sz="1700" b="0" i="0">
          <a:solidFill>
            <a:srgbClr val="E3E8EC"/>
          </a:solidFill>
          <a:latin typeface="Geist"/>
          <a:ea typeface="Geist"/>
          <a:cs typeface="Geist"/>
        </a:defRPr>
      </a:lvl1pPr>
      <a:lvl2pPr marL="508000" indent="-190500">
        <a:spcBef>
          <a:spcPts val="400"/>
        </a:spcBef>
        <a:buFont typeface="Geist"/>
        <a:buChar char="•"/>
        <a:defRPr lang="en-GB" sz="1500" b="0" i="0">
          <a:solidFill>
            <a:srgbClr val="E3E8EC"/>
          </a:solidFill>
          <a:latin typeface="Geist"/>
          <a:ea typeface="Geist"/>
          <a:cs typeface="Geist"/>
        </a:defRPr>
      </a:lvl2pPr>
      <a:lvl3pPr marL="762000" indent="-190500">
        <a:spcBef>
          <a:spcPts val="400"/>
        </a:spcBef>
        <a:buFont typeface="Geist"/>
        <a:buChar char="•"/>
        <a:defRPr lang="en-GB" sz="1300" b="0" i="0">
          <a:solidFill>
            <a:srgbClr val="E3E8EC"/>
          </a:solidFill>
          <a:latin typeface="Geist"/>
          <a:ea typeface="Geist"/>
          <a:cs typeface="Geist"/>
        </a:defRPr>
      </a:lvl3pPr>
      <a:lvl4pPr marL="1016000" indent="-190500">
        <a:spcBef>
          <a:spcPts val="400"/>
        </a:spcBef>
        <a:buFont typeface="Geist"/>
        <a:buChar char="•"/>
        <a:defRPr lang="en-GB" sz="1100" b="0" i="0">
          <a:solidFill>
            <a:srgbClr val="E3E8EC"/>
          </a:solidFill>
          <a:latin typeface="Geist"/>
          <a:ea typeface="Geist"/>
          <a:cs typeface="Geist"/>
        </a:defRPr>
      </a:lvl4pPr>
      <a:lvl5pPr marL="1270000" indent="-190500">
        <a:spcBef>
          <a:spcPts val="400"/>
        </a:spcBef>
        <a:buFont typeface="Geist"/>
        <a:buChar char="•"/>
        <a:defRPr lang="en-GB" sz="1100" b="0" i="0">
          <a:solidFill>
            <a:srgbClr val="E3E8EC"/>
          </a:solidFill>
          <a:latin typeface="Geist"/>
          <a:ea typeface="Geist"/>
          <a:cs typeface="Geist"/>
        </a:defRPr>
      </a:lvl5pPr>
    </p:bodyStyle>
    <p:otherStyle>
      <a:lvl1pPr marL="0" indent="0">
        <a:spcBef>
          <a:spcPts val="400"/>
        </a:spcBef>
        <a:buNone/>
        <a:defRPr lang="en-GB" sz="1200" b="0" i="0">
          <a:solidFill>
            <a:srgbClr val="E3E8EC"/>
          </a:solidFill>
          <a:latin typeface="Geist"/>
          <a:ea typeface="Geist"/>
          <a:cs typeface="Geist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Venue, city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</a:t>
            </a:r>
            <a:r>
              <a:rPr>
                <a:solidFill>
                  <a:srgbClr val="F1935B"/>
                </a:solidFill>
              </a:rPr>
              <a:t>rocky worlds</a:t>
            </a:r>
            <a:r>
              <a:t> form and evolve?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Lava worlds open a window into the interior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Lava world atmospheres are fed from the </a:t>
            </a:r>
            <a:r>
              <a:rPr>
                <a:solidFill>
                  <a:srgbClr val="F1935B"/>
                </a:solidFill>
              </a:rPr>
              <a:t>interior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Outgassing follows the redox state of the magma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Nicholls+ 25 </a:t>
            </a:r>
            <a:r>
              <a:rPr i="1"/>
              <a:t>MNRAS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/>
        </p:txBody>
      </p:sp>
      <p:pic>
        <p:nvPicPr>
          <p:cNvPr id="7" name="Picture 6" descr="sampl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1213387"/>
            <a:ext cx="7721600" cy="50027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atmospheres are mass-sorted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Lichtenberg+ 25 </a:t>
            </a:r>
            <a:r>
              <a:rPr i="1"/>
              <a:t>Science</a:t>
            </a:r>
          </a:p>
        </p:txBody>
      </p:sp>
      <p:pic>
        <p:nvPicPr>
          <p:cNvPr id="6" name="Picture 5" descr="sampl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71" y="1174750"/>
            <a:ext cx="7742859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Sulfur species trace the interior phase state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Teske+ 25 </a:t>
            </a:r>
            <a:r>
              <a:rPr i="1"/>
              <a:t>ApJL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Lichtenberg &amp; Miguel 25 </a:t>
            </a:r>
            <a:r>
              <a:rPr i="1"/>
              <a:t>Treatise on Geochemistry</a:t>
            </a:r>
          </a:p>
        </p:txBody>
      </p:sp>
      <p:pic>
        <p:nvPicPr>
          <p:cNvPr id="7" name="Picture 6" descr="sampl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904553"/>
            <a:ext cx="5588000" cy="3620394"/>
          </a:xfrm>
          <a:prstGeom prst="rect">
            <a:avLst/>
          </a:prstGeom>
        </p:spPr>
      </p:pic>
      <p:pic>
        <p:nvPicPr>
          <p:cNvPr id="8" name="Picture 7" descr="sample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904553"/>
            <a:ext cx="5588000" cy="36203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First take-home point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Author+ 25</a:t>
            </a:r>
          </a:p>
          <a:p>
            <a:r>
              <a:t>Author &amp; Author 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2. Second take-home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Author+ 24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3. Third take-home point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Author+ 26a,b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common assumption, stated plainly.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Forming Worlds Lab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</a:t>
            </a:r>
            <a:r>
              <a:rPr>
                <a:solidFill>
                  <a:srgbClr val="F1935B"/>
                </a:solidFill>
              </a:rPr>
              <a:t>rocky worlds</a:t>
            </a:r>
            <a:r>
              <a:t> form and evolve?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positions: formingworlds.space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orming Worlds">
      <a:dk1>
        <a:srgbClr val="010305"/>
      </a:dk1>
      <a:lt1>
        <a:srgbClr val="FFFFFF"/>
      </a:lt1>
      <a:dk2>
        <a:srgbClr val="111C24"/>
      </a:dk2>
      <a:lt2>
        <a:srgbClr val="E3E8EC"/>
      </a:lt2>
      <a:accent1>
        <a:srgbClr val="F1935B"/>
      </a:accent1>
      <a:accent2>
        <a:srgbClr val="4DAAD8"/>
      </a:accent2>
      <a:accent3>
        <a:srgbClr val="6AE7AD"/>
      </a:accent3>
      <a:accent4>
        <a:srgbClr val="F3C451"/>
      </a:accent4>
      <a:accent5>
        <a:srgbClr val="7E66C3"/>
      </a:accent5>
      <a:accent6>
        <a:srgbClr val="C25656"/>
      </a:accent6>
      <a:hlink>
        <a:srgbClr val="4DAAD8"/>
      </a:hlink>
      <a:folHlink>
        <a:srgbClr val="81C8EF"/>
      </a:folHlink>
    </a:clrScheme>
    <a:fontScheme name="Forming Worlds">
      <a:majorFont>
        <a:latin typeface="Geist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Forming Worlds Lab slide masters</dc:title>
  <dc:subject/>
  <dc:creator>Forming Worlds Lab</dc:creator>
  <cp:keywords/>
  <dc:description>generated using python-pptx</dc:description>
  <cp:lastModifiedBy>Forming Worlds Lab</cp:lastModifiedBy>
  <cp:revision>1</cp:revision>
  <dcterms:created xsi:type="dcterms:W3CDTF">2026-10-18T00:00:00Z</dcterms:created>
  <dcterms:modified xsi:type="dcterms:W3CDTF">2026-10-18T00:00:00Z</dcterms:modified>
  <cp:category/>
</cp:coreProperties>
</file>